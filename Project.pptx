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67" r:id="rId4"/>
    <p:sldId id="270" r:id="rId5"/>
    <p:sldId id="259" r:id="rId6"/>
    <p:sldId id="264" r:id="rId7"/>
    <p:sldId id="260" r:id="rId8"/>
    <p:sldId id="261" r:id="rId9"/>
    <p:sldId id="265" r:id="rId10"/>
    <p:sldId id="266" r:id="rId11"/>
    <p:sldId id="27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4" d="100"/>
          <a:sy n="84" d="100"/>
        </p:scale>
        <p:origin x="5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00549-0A14-31A5-9D09-59654F426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AC4AA-9C6B-3478-1EF1-4D8F98A0D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79AED-5EF3-3CF3-F320-51B9AB174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067B-5554-4C21-9242-CE2EF317A807}" type="datetimeFigureOut">
              <a:rPr lang="en-IN" smtClean="0"/>
              <a:t>30-07-2026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A896B-2A26-3C70-691C-DD794D54C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82F1F-641A-3F43-BF55-3DFFB63A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1E2F-1EDF-462D-9A5A-3FBE83458E5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4037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8750A-B417-94C6-C1DC-6EBBB5BC7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0AC7C-4AEF-181F-AAB1-433186D26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D69E8-B423-9FA4-0A4F-F591309C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067B-5554-4C21-9242-CE2EF317A807}" type="datetimeFigureOut">
              <a:rPr lang="en-IN" smtClean="0"/>
              <a:t>30-07-2026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1282F-3D2E-F314-B98B-D9C5DEC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BC195-3EC7-1500-600C-6660408A4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1E2F-1EDF-462D-9A5A-3FBE83458E5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807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52B4D-19BA-2CCB-870B-2679432D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CC8B9-B10B-D6F8-43F5-0EE454BFF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37BCB-4E0E-7A0B-5B82-F0DFC847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067B-5554-4C21-9242-CE2EF317A807}" type="datetimeFigureOut">
              <a:rPr lang="en-IN" smtClean="0"/>
              <a:t>30-07-2026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ABB0-32B0-F9BF-562D-8E45BC5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B6945-F77C-B29A-2E5B-4EFC33E2B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1E2F-1EDF-462D-9A5A-3FBE83458E5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0816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348C7-8FF8-7E7A-D0A2-63E9832C9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B97F-50E4-1A09-A364-5F248B92F8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03011-52FE-929B-2B01-72BD0C3D0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3E994-7F99-E111-0667-4AE680D4E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067B-5554-4C21-9242-CE2EF317A807}" type="datetimeFigureOut">
              <a:rPr lang="en-IN" smtClean="0"/>
              <a:t>30-07-2026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393C0-9D29-6495-C574-8A93BC2ED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799F3-82D6-8EDC-0BA9-885B71A4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1E2F-1EDF-462D-9A5A-3FBE83458E5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508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5B62B-7EBD-B580-D95F-1B1ED2488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308CD-AD6A-798F-42DC-59107CA87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00B1BA-CC55-0B01-2F50-E55A8C0ED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A5DD9F-2148-F81B-A231-8665423FE9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D4857B-8A67-9381-C84F-9E1EF1831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04B480-3036-7783-E573-10A88D0B6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067B-5554-4C21-9242-CE2EF317A807}" type="datetimeFigureOut">
              <a:rPr lang="en-IN" smtClean="0"/>
              <a:t>30-07-2026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EF923F-CA5B-EF55-176A-75AA8367E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75E886-DBC2-7137-86FC-D46F2A6AB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1E2F-1EDF-462D-9A5A-3FBE83458E5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1892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90775-CAFB-5F5F-8BDA-1CECB658D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D85E04-D781-D367-9CD4-C99883E4A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067B-5554-4C21-9242-CE2EF317A807}" type="datetimeFigureOut">
              <a:rPr lang="en-IN" smtClean="0"/>
              <a:t>30-07-2026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4DE11-A045-6B6D-5DB8-301BD207D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C2B33E-52AC-788D-170E-557AD6832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1E2F-1EDF-462D-9A5A-3FBE83458E5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4844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0B5273-5A02-95A5-A996-C6BF7C23B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067B-5554-4C21-9242-CE2EF317A807}" type="datetimeFigureOut">
              <a:rPr lang="en-IN" smtClean="0"/>
              <a:t>30-07-2026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1754B-5E08-9193-6B24-56D0DD083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BCB17-4631-E130-B660-F13F90FF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1E2F-1EDF-462D-9A5A-3FBE83458E5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810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3E6F2-7DE2-C3AC-C1F4-B82285882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E1E0D-0555-41BF-125B-24E6D5667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6A405F-6130-50C3-CA2E-0A19C949A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D158C-7347-F524-A718-4EA540EB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067B-5554-4C21-9242-CE2EF317A807}" type="datetimeFigureOut">
              <a:rPr lang="en-IN" smtClean="0"/>
              <a:t>30-07-2026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74891-D680-49B0-74E4-0C39EA4E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26594-1761-5EA0-8891-1FCDD318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1E2F-1EDF-462D-9A5A-3FBE83458E5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822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91CA5-C73D-1604-CDDF-D6C9CB01C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A1142B-5E2D-B6DB-9BC0-E5FADF185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47160-185D-E307-29B5-528FBFFEC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5A995-7D4E-6ED9-8577-BAC0DB5A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067B-5554-4C21-9242-CE2EF317A807}" type="datetimeFigureOut">
              <a:rPr lang="en-IN" smtClean="0"/>
              <a:t>30-07-2026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B00EE-14C0-259B-6C9A-715CD62B0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ED6B1-D269-0DC4-566E-E17487C5A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1E2F-1EDF-462D-9A5A-3FBE83458E5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7562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5FDC8-2B45-5174-12BA-8D54ED317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0CC77A-C357-D340-01C9-72532EC03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8EADA-37C7-5057-7694-A8B6EAADF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067B-5554-4C21-9242-CE2EF317A807}" type="datetimeFigureOut">
              <a:rPr lang="en-IN" smtClean="0"/>
              <a:t>30-07-2026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DD0F9-3812-08E1-C165-EDC99D3D1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7F338-DD7A-3D4A-F01D-9FF59524D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1E2F-1EDF-462D-9A5A-3FBE83458E5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8019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9CAE68-1401-6462-935E-1D045D126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CAF8B5-33C0-1F20-92CB-D0AB0DB1E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B81A8-27A1-3DFA-3648-3961A88F5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067B-5554-4C21-9242-CE2EF317A807}" type="datetimeFigureOut">
              <a:rPr lang="en-IN" smtClean="0"/>
              <a:t>30-07-2026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3015F-12EC-6565-5B06-557773741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1398F-45A2-CC22-AC71-2263F05D0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1E2F-1EDF-462D-9A5A-3FBE83458E5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1816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034AF-BD3A-2EC2-A4F5-9F0388D17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4BA0D-9617-DDF9-83B0-7C2327CEF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0336F-CCF7-D2E0-ECE6-DC2408E4B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1E067B-5554-4C21-9242-CE2EF317A807}" type="datetimeFigureOut">
              <a:rPr lang="en-IN" smtClean="0"/>
              <a:t>30-07-2026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AEFFF-3B58-1B1C-D0D7-C144A3DA5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3BF94-323E-6A83-CBA6-54ECF5BEE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31E2F-1EDF-462D-9A5A-3FBE83458E5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421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 /><Relationship Id="rId13" Type="http://schemas.openxmlformats.org/officeDocument/2006/relationships/image" Target="../media/image14.png" /><Relationship Id="rId3" Type="http://schemas.openxmlformats.org/officeDocument/2006/relationships/image" Target="../media/image4.png" /><Relationship Id="rId7" Type="http://schemas.openxmlformats.org/officeDocument/2006/relationships/image" Target="../media/image8.png" /><Relationship Id="rId12" Type="http://schemas.openxmlformats.org/officeDocument/2006/relationships/image" Target="../media/image13.png" /><Relationship Id="rId2" Type="http://schemas.openxmlformats.org/officeDocument/2006/relationships/image" Target="../media/image3.png" /><Relationship Id="rId16" Type="http://schemas.openxmlformats.org/officeDocument/2006/relationships/image" Target="../media/image17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7.png" /><Relationship Id="rId11" Type="http://schemas.openxmlformats.org/officeDocument/2006/relationships/image" Target="../media/image12.png" /><Relationship Id="rId5" Type="http://schemas.openxmlformats.org/officeDocument/2006/relationships/image" Target="../media/image6.png" /><Relationship Id="rId15" Type="http://schemas.openxmlformats.org/officeDocument/2006/relationships/image" Target="../media/image16.png" /><Relationship Id="rId10" Type="http://schemas.openxmlformats.org/officeDocument/2006/relationships/image" Target="../media/image11.png" /><Relationship Id="rId4" Type="http://schemas.openxmlformats.org/officeDocument/2006/relationships/image" Target="../media/image5.png" /><Relationship Id="rId9" Type="http://schemas.openxmlformats.org/officeDocument/2006/relationships/image" Target="../media/image10.png" /><Relationship Id="rId14" Type="http://schemas.openxmlformats.org/officeDocument/2006/relationships/image" Target="../media/image15.png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 /><Relationship Id="rId3" Type="http://schemas.openxmlformats.org/officeDocument/2006/relationships/image" Target="../media/image19.png" /><Relationship Id="rId7" Type="http://schemas.openxmlformats.org/officeDocument/2006/relationships/image" Target="../media/image23.png" /><Relationship Id="rId12" Type="http://schemas.openxmlformats.org/officeDocument/2006/relationships/image" Target="../media/image28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2.png" /><Relationship Id="rId11" Type="http://schemas.openxmlformats.org/officeDocument/2006/relationships/image" Target="../media/image27.png" /><Relationship Id="rId5" Type="http://schemas.openxmlformats.org/officeDocument/2006/relationships/image" Target="../media/image21.png" /><Relationship Id="rId10" Type="http://schemas.openxmlformats.org/officeDocument/2006/relationships/image" Target="../media/image26.png" /><Relationship Id="rId4" Type="http://schemas.openxmlformats.org/officeDocument/2006/relationships/image" Target="../media/image20.png" /><Relationship Id="rId9" Type="http://schemas.openxmlformats.org/officeDocument/2006/relationships/image" Target="../media/image25.png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BD411-67F6-584A-EE8F-C0D7019DD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124"/>
            <a:ext cx="9144000" cy="628154"/>
          </a:xfrm>
        </p:spPr>
        <p:txBody>
          <a:bodyPr>
            <a:no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Road Accident Monitoring and Emergency Response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AC540-F7F6-A1B3-A930-B81439E9F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68680"/>
            <a:ext cx="9144000" cy="5593080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Dhankar(2300681530006)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Arpit (2300681530024)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Nirwal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(2300681530026)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Avnish Kumar Singh(2300681530034)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Bachelors of Technology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(Artificial Intelligence &amp; Machine Learning)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Meerut Institute of Engineering &amp; Technology, Meerut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APJ ABDUL KALAM TECHNICAL UNIVERSITY ,Lucknow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2026)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38FD6ED-30CE-294F-2939-AC91A5E94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3246" y="4557052"/>
            <a:ext cx="1065508" cy="106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E18349F-00F0-F85D-F338-3C26B3F93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519" y="3047502"/>
            <a:ext cx="2239861" cy="1036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4515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FA9D4-40B1-C000-69C9-6202FA218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u="sng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CEA89-0518-2FF4-9FA0-B55022BC5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660" y="1690688"/>
            <a:ext cx="10396140" cy="4527232"/>
          </a:xfrm>
        </p:spPr>
        <p:txBody>
          <a:bodyPr>
            <a:noAutofit/>
          </a:bodyPr>
          <a:lstStyle/>
          <a:p>
            <a:r>
              <a:rPr lang="en-IN" sz="2400" dirty="0"/>
              <a:t>Road accidents remain one of the leading causes of fatalities worldwide. </a:t>
            </a:r>
          </a:p>
          <a:p>
            <a:r>
              <a:rPr lang="en-IN" sz="2400" dirty="0"/>
              <a:t>A large number of victims lose their lives not because of the accident itself, but because emergency assistance does not reach them during the Golden Hour.</a:t>
            </a:r>
          </a:p>
          <a:p>
            <a:r>
              <a:rPr lang="en-IN" sz="2400" dirty="0"/>
              <a:t>Most existing emergency systems depend on the victim manually requesting help. </a:t>
            </a:r>
          </a:p>
          <a:p>
            <a:r>
              <a:rPr lang="en-IN" sz="2400" dirty="0"/>
              <a:t>However, in severe accidents, victims may become unconscious or physically unable to use their mobile phones.</a:t>
            </a:r>
          </a:p>
          <a:p>
            <a:r>
              <a:rPr lang="en-IN" sz="2400" dirty="0"/>
              <a:t>To overcome this limitation, this project introduces an intelligent accident response system capable of automatically detecting accidents using smartphone sensors.</a:t>
            </a:r>
          </a:p>
          <a:p>
            <a:r>
              <a:rPr lang="en-IN" sz="2400" dirty="0"/>
              <a:t>It initiates emergency assistance without requiring any user interaction.</a:t>
            </a:r>
          </a:p>
        </p:txBody>
      </p:sp>
    </p:spTree>
    <p:extLst>
      <p:ext uri="{BB962C8B-B14F-4D97-AF65-F5344CB8AC3E}">
        <p14:creationId xmlns:p14="http://schemas.microsoft.com/office/powerpoint/2010/main" val="274509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74CFB-21C7-2EF6-AFA4-171C8D579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1027"/>
          </a:xfrm>
        </p:spPr>
        <p:txBody>
          <a:bodyPr>
            <a:noAutofit/>
          </a:bodyPr>
          <a:lstStyle/>
          <a:p>
            <a:r>
              <a:rPr lang="en-US" sz="4800" b="1" dirty="0"/>
              <a:t>Literature Review</a:t>
            </a:r>
            <a:endParaRPr lang="en-IN" sz="4800" b="1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6995E6C-60D7-6899-69BF-22CAF51FDF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4181646"/>
              </p:ext>
            </p:extLst>
          </p:nvPr>
        </p:nvGraphicFramePr>
        <p:xfrm>
          <a:off x="347472" y="1216152"/>
          <a:ext cx="11338560" cy="5212075"/>
        </p:xfrm>
        <a:graphic>
          <a:graphicData uri="http://schemas.openxmlformats.org/drawingml/2006/table">
            <a:tbl>
              <a:tblPr/>
              <a:tblGrid>
                <a:gridCol w="568824">
                  <a:extLst>
                    <a:ext uri="{9D8B030D-6E8A-4147-A177-3AD203B41FA5}">
                      <a16:colId xmlns:a16="http://schemas.microsoft.com/office/drawing/2014/main" val="2742278308"/>
                    </a:ext>
                  </a:extLst>
                </a:gridCol>
                <a:gridCol w="1924522">
                  <a:extLst>
                    <a:ext uri="{9D8B030D-6E8A-4147-A177-3AD203B41FA5}">
                      <a16:colId xmlns:a16="http://schemas.microsoft.com/office/drawing/2014/main" val="2073974153"/>
                    </a:ext>
                  </a:extLst>
                </a:gridCol>
                <a:gridCol w="2493345">
                  <a:extLst>
                    <a:ext uri="{9D8B030D-6E8A-4147-A177-3AD203B41FA5}">
                      <a16:colId xmlns:a16="http://schemas.microsoft.com/office/drawing/2014/main" val="208033887"/>
                    </a:ext>
                  </a:extLst>
                </a:gridCol>
                <a:gridCol w="2720875">
                  <a:extLst>
                    <a:ext uri="{9D8B030D-6E8A-4147-A177-3AD203B41FA5}">
                      <a16:colId xmlns:a16="http://schemas.microsoft.com/office/drawing/2014/main" val="4161726909"/>
                    </a:ext>
                  </a:extLst>
                </a:gridCol>
                <a:gridCol w="3630994">
                  <a:extLst>
                    <a:ext uri="{9D8B030D-6E8A-4147-A177-3AD203B41FA5}">
                      <a16:colId xmlns:a16="http://schemas.microsoft.com/office/drawing/2014/main" val="2823986960"/>
                    </a:ext>
                  </a:extLst>
                </a:gridCol>
              </a:tblGrid>
              <a:tr h="4738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Ref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1" i="0" u="none" strike="noStrike" dirty="0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Author &amp; Year</a:t>
                      </a:r>
                      <a:endParaRPr lang="en-IN" dirty="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Domain &amp; Methodology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1E293B"/>
                          </a:solidFill>
                          <a:effectLst/>
                          <a:latin typeface="Inter"/>
                        </a:rPr>
                        <a:t>Core Contribution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Key Limitations &amp; Research Gap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357479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[1]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Sahoo et al. </a:t>
                      </a:r>
                      <a:r>
                        <a:rPr lang="en-IN" sz="937" b="1" i="1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(IEEE, 2022)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Smartphone Accelerometer + GPS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1E293B"/>
                          </a:solidFill>
                          <a:effectLst/>
                          <a:latin typeface="Inter"/>
                        </a:rPr>
                        <a:t>Impact threshold detection &amp; auto-SMS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High false alarms on phone drops; no user cancellation timer.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856591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[2]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Kim &amp; Lee </a:t>
                      </a:r>
                      <a:r>
                        <a:rPr lang="en-IN" sz="937" b="1" i="1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(IEEE Sensors J., 2023)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Multi-Sensor Fusion (Accel + Gyro + SVM)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1E293B"/>
                          </a:solidFill>
                          <a:effectLst/>
                          <a:latin typeface="Inter"/>
                        </a:rPr>
                        <a:t>94.5% precision in crash classification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No community volunteer geo-broadcasting or authority sync.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213813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[3]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Patel &amp; Mehta </a:t>
                      </a:r>
                      <a:r>
                        <a:rPr lang="en-IN" sz="937" b="1" i="1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(IEEE IoT J., 2023)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Real-time Mobile Sensor Stream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1E293B"/>
                          </a:solidFill>
                          <a:effectLst/>
                          <a:latin typeface="Inter"/>
                        </a:rPr>
                        <a:t>Feature extraction for motion anomalies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Requires continuous internet; fails under offline SMS modes.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791538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[4]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Garg et al. </a:t>
                      </a:r>
                      <a:r>
                        <a:rPr lang="en-IN" sz="937" b="1" i="1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(IJARCCE, 2022)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Computer Vision &amp; Traffic CCTV YOLO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1E293B"/>
                          </a:solidFill>
                          <a:effectLst/>
                          <a:latin typeface="Inter"/>
                        </a:rPr>
                        <a:t>Intersection collision detection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Limited to CCTV blind spots &amp; rural roads; cannot notify personal contacts.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013843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[5]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Dahiya et al. </a:t>
                      </a:r>
                      <a:r>
                        <a:rPr lang="en-IN" sz="937" b="1" i="1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(IEEE T-ITS, 2020)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Deep Learning Two-Wheeler Safety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1E293B"/>
                          </a:solidFill>
                          <a:effectLst/>
                          <a:latin typeface="Inter"/>
                        </a:rPr>
                        <a:t>Helmets &amp; impact classification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Focuses solely on two-wheelers; lacks live GPS streaming.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040100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[6]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1" i="0" u="none" strike="noStrike" dirty="0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Zhang et al. </a:t>
                      </a:r>
                      <a:r>
                        <a:rPr lang="en-IN" sz="937" b="1" i="1" u="none" strike="noStrike" dirty="0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(ECCV, 2022)</a:t>
                      </a:r>
                      <a:endParaRPr lang="en-IN" dirty="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ByteTrack Multi-Object Tracking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1E293B"/>
                          </a:solidFill>
                          <a:effectLst/>
                          <a:latin typeface="Inter"/>
                        </a:rPr>
                        <a:t>Trajectory tracking during occlusion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 dirty="0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Heavy memory usage; no integrated mobile emergency alerting.</a:t>
                      </a:r>
                      <a:endParaRPr lang="en-IN" dirty="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862201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[7]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Kumar et al. </a:t>
                      </a:r>
                      <a:r>
                        <a:rPr lang="en-IN" sz="937" b="1" i="1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(IEEE, 2025)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MPU6050 + Ultrasonic + Arduino IoT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1E293B"/>
                          </a:solidFill>
                          <a:effectLst/>
                          <a:latin typeface="Inter"/>
                        </a:rPr>
                        <a:t>In-vehicle embedded hardware unit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High hardware deployment cost; difficult to retrofit into existing vehicles.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812635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[8]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Fang et al. </a:t>
                      </a:r>
                      <a:r>
                        <a:rPr lang="en-IN" sz="937" b="1" i="1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(Elsevier, 2024)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Vision-Based Collision Anticipation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1E293B"/>
                          </a:solidFill>
                          <a:effectLst/>
                          <a:latin typeface="Inter"/>
                        </a:rPr>
                        <a:t>Spatial-temporal crash forecasting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Purely analytical; lacks post-crash dispatch &amp; geohashed alert pipeline.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381109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[9]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DSGF-YOLO </a:t>
                      </a:r>
                      <a:r>
                        <a:rPr lang="en-IN" sz="937" b="1" i="1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(MDPI, 2025)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Lightweight Neural Network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1E293B"/>
                          </a:solidFill>
                          <a:effectLst/>
                          <a:latin typeface="Inter"/>
                        </a:rPr>
                        <a:t>Accident severity classification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Pipeline-only model; lacks mobile sensor validation &amp; instant SMS.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211706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[10]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ARMS Model </a:t>
                      </a:r>
                      <a:r>
                        <a:rPr lang="en-IN" sz="937" b="1" i="1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(IEEE Access, 2024)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Multi-Stream Deep Learning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>
                          <a:solidFill>
                            <a:srgbClr val="1E293B"/>
                          </a:solidFill>
                          <a:effectLst/>
                          <a:latin typeface="Inter"/>
                        </a:rPr>
                        <a:t>Mixed-traffic intersection monitoring</a:t>
                      </a:r>
                      <a:endParaRPr lang="en-IN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937" b="0" i="0" u="none" strike="noStrike" dirty="0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Effective only at urban junctions; cannot pinpoint victim GPS coordinates.</a:t>
                      </a:r>
                      <a:endParaRPr lang="en-IN" dirty="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040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6196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6362700"/>
            <a:ext cx="1114425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2300" y="428625"/>
            <a:ext cx="11169699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Paradigm Shift: Legacy vs. Proposed RoadSOS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90537"/>
            <a:ext cx="355550" cy="28575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3875" y="1076325"/>
          <a:ext cx="1112519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4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4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Feature Dimension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Legacy / Manual SOS Applications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Proposed RoadSOS Framework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User Intervention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High: Requires conscious victim to physically press button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100% Zero-Interaction: Runs autonomously in background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Sensor Validation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Single Sensor: Raw accelerometer triggers false alerts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Multi-Sensor Fusion: Accel + Gyroscope + GPS Speed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False Alarm Prevention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None: Immediately dispatches unverified emergency calls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10s Grace Window: User can cancel accidental drops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Location Tracking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Static: Sends a single, one-time SMS coordinate link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Continuous Streaming: Real-time WebSockets tracking link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Community Integration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None: Notifies only stored emergency personal contacts</a:t>
                      </a: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Geohashed Network: Alerts nearby Good Samaritans</a:t>
                      </a: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Authority Monitoring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None: No direct integration with traffic police dispatchers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Police Dashboard: Centralized React command portal</a:t>
                      </a:r>
                    </a:p>
                  </a:txBody>
                  <a:tcPr marL="2667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33400" y="2114550"/>
            <a:ext cx="22252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58678" y="2114550"/>
            <a:ext cx="40049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3642" y="2114550"/>
            <a:ext cx="48949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2533650"/>
            <a:ext cx="22252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58678" y="2533650"/>
            <a:ext cx="40049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3642" y="2533650"/>
            <a:ext cx="48949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3124200"/>
            <a:ext cx="22252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58678" y="3124200"/>
            <a:ext cx="40049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63642" y="3124200"/>
            <a:ext cx="48949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3400" y="3543300"/>
            <a:ext cx="22252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58678" y="3543300"/>
            <a:ext cx="40049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763642" y="3543300"/>
            <a:ext cx="48949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4133850"/>
            <a:ext cx="22252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58678" y="4133850"/>
            <a:ext cx="40049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63642" y="4133850"/>
            <a:ext cx="48949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5092" y="3276600"/>
            <a:ext cx="133350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0128" y="3276600"/>
            <a:ext cx="104775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5092" y="4371975"/>
            <a:ext cx="152400" cy="1333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0128" y="2686050"/>
            <a:ext cx="104775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5092" y="3781425"/>
            <a:ext cx="171450" cy="1333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0128" y="4286250"/>
            <a:ext cx="104775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30128" y="1676400"/>
            <a:ext cx="13335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5092" y="2266950"/>
            <a:ext cx="133350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35092" y="1762125"/>
            <a:ext cx="133350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30128" y="3695700"/>
            <a:ext cx="171450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30128" y="2266950"/>
            <a:ext cx="133350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5092" y="2771775"/>
            <a:ext cx="133350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30128" y="1676400"/>
            <a:ext cx="133350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35092" y="1762125"/>
            <a:ext cx="133350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30128" y="2266950"/>
            <a:ext cx="133350" cy="1333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5092" y="2266950"/>
            <a:ext cx="133350" cy="13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0128" y="2686050"/>
            <a:ext cx="104775" cy="1333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5092" y="2771775"/>
            <a:ext cx="133350" cy="1333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0128" y="3276600"/>
            <a:ext cx="104775" cy="1333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5092" y="3276600"/>
            <a:ext cx="133350" cy="1333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30128" y="3695700"/>
            <a:ext cx="171450" cy="1333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5092" y="3781425"/>
            <a:ext cx="171450" cy="1333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0128" y="4286250"/>
            <a:ext cx="104775" cy="1333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5092" y="4371975"/>
            <a:ext cx="152400" cy="13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30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61669-489A-8AF7-9BB4-1D55E353D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28"/>
            <a:ext cx="10515600" cy="1233698"/>
          </a:xfrm>
        </p:spPr>
        <p:txBody>
          <a:bodyPr>
            <a:normAutofit/>
          </a:bodyPr>
          <a:lstStyle/>
          <a:p>
            <a:r>
              <a:rPr lang="en-IN" sz="4800" b="1" u="sng" dirty="0"/>
              <a:t>Research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44AE5-E75E-F765-D67F-DCABB3B76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3926"/>
            <a:ext cx="10108842" cy="4429703"/>
          </a:xfrm>
        </p:spPr>
        <p:txBody>
          <a:bodyPr>
            <a:normAutofit/>
          </a:bodyPr>
          <a:lstStyle/>
          <a:p>
            <a:r>
              <a:rPr lang="en-IN" sz="2400" dirty="0"/>
              <a:t>Most existing systems require the victim to manually press an SOS button or make a phone call.</a:t>
            </a:r>
          </a:p>
          <a:p>
            <a:r>
              <a:rPr lang="en-IN" sz="2400" dirty="0"/>
              <a:t>They are ineffective when the victim is unconscious or seriously injured.</a:t>
            </a:r>
          </a:p>
          <a:p>
            <a:r>
              <a:rPr lang="en-IN" sz="2400" dirty="0"/>
              <a:t>Single-sensor detection methods often generate false alarms due to sudden phone movements or accidental drops.</a:t>
            </a:r>
          </a:p>
          <a:p>
            <a:r>
              <a:rPr lang="en-IN" sz="2400" dirty="0"/>
              <a:t>Existing applications provide limited integration with emergency responders and community volunteers.</a:t>
            </a:r>
          </a:p>
          <a:p>
            <a:r>
              <a:rPr lang="en-IN" sz="2400" dirty="0"/>
              <a:t>Most systems only notify emergency contacts and do not support real-time monitoring by authorities.</a:t>
            </a:r>
          </a:p>
        </p:txBody>
      </p:sp>
    </p:spTree>
    <p:extLst>
      <p:ext uri="{BB962C8B-B14F-4D97-AF65-F5344CB8AC3E}">
        <p14:creationId xmlns:p14="http://schemas.microsoft.com/office/powerpoint/2010/main" val="3348145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7BA70-A950-DE47-BEE2-304DC54A2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u="sng" dirty="0"/>
              <a:t>Challenges</a:t>
            </a:r>
            <a:endParaRPr lang="en-US" sz="48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D8B69-5D5B-A4CC-C618-FA01884E5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sz="2400" dirty="0"/>
              <a:t>Accurate detection of genuine accidents while avoiding false positives.
Reliable real-time location sharing.
Fast communication with emergency contacts.
Efficient coordination with nearby volunteers and police authorities.
Maintaining user privacy and data security during emergencies.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59382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248D1-DE20-C3E1-E1A1-22A992C6A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u="sng" dirty="0"/>
              <a:t>Aims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ACAE0-2C72-47AC-6915-CEFD7248F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To design a system for real-time accident monitoring .</a:t>
            </a:r>
          </a:p>
          <a:p>
            <a:r>
              <a:rPr lang="en-US" sz="2400" dirty="0"/>
              <a:t>To detect accidents using gyroscope and motion-based techniques .</a:t>
            </a:r>
          </a:p>
          <a:p>
            <a:r>
              <a:rPr lang="en-US" sz="2400" dirty="0"/>
              <a:t>To identify sudden orientation changes indicating a crash .</a:t>
            </a:r>
          </a:p>
          <a:p>
            <a:r>
              <a:rPr lang="en-US" sz="2400" dirty="0"/>
              <a:t>To implement a user confirmation mechanism before sending alerts .</a:t>
            </a:r>
          </a:p>
          <a:p>
            <a:r>
              <a:rPr lang="en-US" sz="2400" dirty="0"/>
              <a:t>To allow user response within a fixed time interval of 15 to 30 seconds .</a:t>
            </a:r>
          </a:p>
          <a:p>
            <a:r>
              <a:rPr lang="en-US" sz="2400" dirty="0"/>
              <a:t>To send SOS alerts if no response is received from the user .</a:t>
            </a:r>
          </a:p>
          <a:p>
            <a:r>
              <a:rPr lang="en-US" sz="2400" dirty="0"/>
              <a:t>To provide accurate location tracking using GPS .</a:t>
            </a:r>
          </a:p>
          <a:p>
            <a:r>
              <a:rPr lang="en-IN" sz="2400" dirty="0"/>
              <a:t>Broadcast alerts to nearby registered volunteers.
Provide a web-based dashboard for police monitoring.
Improve emergency response time and increase survival chances during the Golden Hour.</a:t>
            </a:r>
          </a:p>
        </p:txBody>
      </p:sp>
    </p:spTree>
    <p:extLst>
      <p:ext uri="{BB962C8B-B14F-4D97-AF65-F5344CB8AC3E}">
        <p14:creationId xmlns:p14="http://schemas.microsoft.com/office/powerpoint/2010/main" val="2884678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166A5-7B71-03E1-CD32-ACFAB71CB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u="sng" dirty="0"/>
              <a:t>Methodology / 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43AA3-F13A-9E32-69D1-1F67D9E1A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/>
              <a:t>Smartphone sensors continuously monitor vehicle movement.</a:t>
            </a:r>
          </a:p>
          <a:p>
            <a:r>
              <a:rPr lang="en-IN" sz="2400" dirty="0"/>
              <a:t>Sensor readings are analysed in real time.</a:t>
            </a:r>
          </a:p>
          <a:p>
            <a:r>
              <a:rPr lang="en-IN" sz="2400" dirty="0"/>
              <a:t>Multiple conditions are verified before confirming an accident.</a:t>
            </a:r>
          </a:p>
          <a:p>
            <a:r>
              <a:rPr lang="en-IN" sz="2400" dirty="0"/>
              <a:t>A 10-second cancellation countdown is displayed.</a:t>
            </a:r>
          </a:p>
          <a:p>
            <a:r>
              <a:rPr lang="en-IN" sz="2400" dirty="0"/>
              <a:t>If the alert is not cancelled:</a:t>
            </a:r>
            <a:br>
              <a:rPr lang="en-IN" sz="2400" dirty="0"/>
            </a:br>
            <a:r>
              <a:rPr lang="en-IN" sz="2400" dirty="0"/>
              <a:t>  • Emergency SMS messages are sent.</a:t>
            </a:r>
            <a:br>
              <a:rPr lang="en-IN" sz="2400" dirty="0"/>
            </a:br>
            <a:r>
              <a:rPr lang="en-IN" sz="2400" dirty="0"/>
              <a:t>  • Live GPS location is shared.</a:t>
            </a:r>
            <a:br>
              <a:rPr lang="en-IN" sz="2400" dirty="0"/>
            </a:br>
            <a:r>
              <a:rPr lang="en-IN" sz="2400" dirty="0"/>
              <a:t>  • Nearby volunteers receive notifications.</a:t>
            </a:r>
            <a:br>
              <a:rPr lang="en-IN" sz="2400" dirty="0"/>
            </a:br>
            <a:r>
              <a:rPr lang="en-IN" sz="2400" dirty="0"/>
              <a:t>  • Police dashboard is updated.</a:t>
            </a:r>
          </a:p>
          <a:p>
            <a:r>
              <a:rPr lang="en-IN" sz="2400" dirty="0"/>
              <a:t>Live location continues to be streamed until the emergency is resolved.</a:t>
            </a:r>
            <a:endParaRPr lang="en-US" sz="2400" dirty="0"/>
          </a:p>
          <a:p>
            <a:r>
              <a:rPr lang="en-US" sz="2400" dirty="0"/>
              <a:t>Results are displayed on a real-time monitoring dashboard 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74373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21CCA-B453-B63A-7CD6-6B031D9F2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66865"/>
            <a:ext cx="11686032" cy="679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68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AD93C-4449-6BB9-7C5B-94EDE81DA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u="sng" dirty="0"/>
              <a:t>Technology Stack </a:t>
            </a:r>
            <a:endParaRPr lang="en-US" sz="4800" b="1" u="sng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824A234-AE6F-80B2-9174-71FC6938AD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189865"/>
              </p:ext>
            </p:extLst>
          </p:nvPr>
        </p:nvGraphicFramePr>
        <p:xfrm>
          <a:off x="838200" y="1825624"/>
          <a:ext cx="10224422" cy="4667248"/>
        </p:xfrm>
        <a:graphic>
          <a:graphicData uri="http://schemas.openxmlformats.org/drawingml/2006/table">
            <a:tbl>
              <a:tblPr firstRow="1" bandRow="1" bandCol="1">
                <a:tableStyleId>{5940675A-B579-460E-94D1-54222C63F5DA}</a:tableStyleId>
              </a:tblPr>
              <a:tblGrid>
                <a:gridCol w="5112211">
                  <a:extLst>
                    <a:ext uri="{9D8B030D-6E8A-4147-A177-3AD203B41FA5}">
                      <a16:colId xmlns:a16="http://schemas.microsoft.com/office/drawing/2014/main" val="2185327903"/>
                    </a:ext>
                  </a:extLst>
                </a:gridCol>
                <a:gridCol w="5112211">
                  <a:extLst>
                    <a:ext uri="{9D8B030D-6E8A-4147-A177-3AD203B41FA5}">
                      <a16:colId xmlns:a16="http://schemas.microsoft.com/office/drawing/2014/main" val="4005880700"/>
                    </a:ext>
                  </a:extLst>
                </a:gridCol>
              </a:tblGrid>
              <a:tr h="583406">
                <a:tc>
                  <a:txBody>
                    <a:bodyPr/>
                    <a:lstStyle/>
                    <a:p>
                      <a:r>
                        <a:rPr lang="en-IN" sz="2400" dirty="0"/>
                        <a:t>Real-Time Communication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err="1"/>
                        <a:t>Socket.IO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56548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lang="en-IN" sz="2400" dirty="0"/>
                        <a:t>Backend Services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Flask (Python)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522537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lang="en-IN" sz="2400" dirty="0"/>
                        <a:t>Volunteer Network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err="1"/>
                        <a:t>Geohash</a:t>
                      </a:r>
                      <a:r>
                        <a:rPr lang="en-IN" sz="2400" dirty="0"/>
                        <a:t>-based geo-fencing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088174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lang="en-IN" sz="2400" dirty="0"/>
                        <a:t>Police Dashboard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Frontend React (</a:t>
                      </a:r>
                      <a:r>
                        <a:rPr lang="en-IN" sz="2400" dirty="0" err="1"/>
                        <a:t>Vite</a:t>
                      </a:r>
                      <a:r>
                        <a:rPr lang="en-IN" sz="2400" dirty="0"/>
                        <a:t>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545412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lang="en-IN" sz="2400" dirty="0"/>
                        <a:t>Mapping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err="1"/>
                        <a:t>OpenStreetMap</a:t>
                      </a:r>
                      <a:r>
                        <a:rPr lang="en-IN" sz="2400" dirty="0"/>
                        <a:t> / Google Maps API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597925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lang="en-IN" sz="2400" dirty="0"/>
                        <a:t>Location Services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Android Location APIs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364964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lang="en-IN" sz="2400" dirty="0"/>
                        <a:t>Messaging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Android SMS Manager APIs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182813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lang="en-IN" sz="2400" dirty="0"/>
                        <a:t>AI Severity Pipeline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err="1"/>
                        <a:t>Ultralytics</a:t>
                      </a:r>
                      <a:r>
                        <a:rPr lang="en-IN" sz="2400" dirty="0"/>
                        <a:t> YOLO (pipeline-ready)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433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1411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843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90775"/>
            <a:ext cx="11144250" cy="1790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076325"/>
            <a:ext cx="2643187" cy="1076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7562" y="1076325"/>
            <a:ext cx="2643187" cy="1076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1076325"/>
            <a:ext cx="2643187" cy="1076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4937" y="1076325"/>
            <a:ext cx="2643187" cy="1076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6100" y="428625"/>
            <a:ext cx="11245899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Targeted Performance Metrics &amp; Expected Outcomes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490537"/>
            <a:ext cx="279350" cy="285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2950" y="2609850"/>
            <a:ext cx="11241405" cy="247650"/>
          </a:xfrm>
          <a:prstGeom prst="rect">
            <a:avLst/>
          </a:prstGeom>
          <a:noFill/>
        </p:spPr>
        <p:txBody>
          <a:bodyPr wrap="square" lIns="186779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Expected System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1276350"/>
            <a:ext cx="22431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50" b="1" i="0" u="none">
                <a:solidFill>
                  <a:srgbClr val="1E3A8A"/>
                </a:solidFill>
                <a:latin typeface="Space Grotesk"/>
              </a:rPr>
              <a:t>&gt; 96.21%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1781175"/>
            <a:ext cx="224313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Plus Jakarta Sans SemiBold"/>
              </a:rPr>
              <a:t>Accident Detection 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587" y="1276350"/>
            <a:ext cx="22431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50" b="1" i="0" u="none">
                <a:solidFill>
                  <a:srgbClr val="1E3A8A"/>
                </a:solidFill>
                <a:latin typeface="Space Grotesk"/>
              </a:rPr>
              <a:t>&lt; 3.51%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587" y="1781175"/>
            <a:ext cx="224313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Plus Jakarta Sans SemiBold"/>
              </a:rPr>
              <a:t>False Alarm Rate (10s Grace)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1276350"/>
            <a:ext cx="22431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50" b="1" i="0" u="none">
                <a:solidFill>
                  <a:srgbClr val="1E3A8A"/>
                </a:solidFill>
                <a:latin typeface="Space Grotesk"/>
              </a:rPr>
              <a:t>&lt; 4.0s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1781175"/>
            <a:ext cx="224313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Plus Jakarta Sans SemiBold"/>
              </a:rPr>
              <a:t>Emergency SMS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4962" y="1276350"/>
            <a:ext cx="22431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50" b="1" i="0" u="none">
                <a:solidFill>
                  <a:srgbClr val="1E3A8A"/>
                </a:solidFill>
                <a:latin typeface="Space Grotesk"/>
              </a:rPr>
              <a:t>&lt; 500ms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4962" y="1781175"/>
            <a:ext cx="224313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Plus Jakarta Sans SemiBold"/>
              </a:rPr>
              <a:t>WebSockets Telemetry Delay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2638425"/>
            <a:ext cx="186779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85850" y="2971800"/>
            <a:ext cx="1036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Golden Hour Reduction: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Reduces critical medical arrival times from 35 minutes down to 10–12 minutes.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" y="3352800"/>
            <a:ext cx="1036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First Aid Deployment: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Nearby registered Good Samaritans arrive within 2–3 minutes to stabilize victims.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50" y="3733800"/>
            <a:ext cx="1036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Police Visibility: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Command centers gain full real-time visibility over high-risk collision points in their jurisdiction.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50" y="2995612"/>
            <a:ext cx="190500" cy="2000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50" y="3376612"/>
            <a:ext cx="171450" cy="2000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50" y="3757612"/>
            <a:ext cx="21907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7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A329E-9D4E-DB2C-14AB-89A73424A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AD021-0A75-D039-A056-A9D12F8CD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b="1" dirty="0"/>
              <a:t>KEY REFERENCES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Academic and Literature Citations Supporting System Framework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G. K. Sahoo et al.</a:t>
            </a:r>
            <a:r>
              <a:rPr lang="en-IN" dirty="0"/>
              <a:t>, </a:t>
            </a:r>
            <a:r>
              <a:rPr lang="en-IN" i="1" dirty="0"/>
              <a:t>"Accident Rescuing System for Vehicles in Road Traffic: A Smartphone Application,"</a:t>
            </a:r>
            <a:r>
              <a:rPr lang="en-IN" dirty="0"/>
              <a:t> in IEEE Int. Conf. Smart City and Systems Engineering (ICSCSE), 2022, pp. 112–117.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P. Dahiya, D. Singh, and C. K. Mohan</a:t>
            </a:r>
            <a:r>
              <a:rPr lang="en-IN" dirty="0"/>
              <a:t>, </a:t>
            </a:r>
            <a:r>
              <a:rPr lang="en-IN" i="1" dirty="0"/>
              <a:t>"Automatic Detection of Bike Riders Without Helmet Using Deep Learning,"</a:t>
            </a:r>
            <a:r>
              <a:rPr lang="en-IN" dirty="0"/>
              <a:t> IEEE Trans. Intelligent Transportation Systems, vol. 22, no. 7, pp. 4210–4219, 2020.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J. Kim and J. Lee</a:t>
            </a:r>
            <a:r>
              <a:rPr lang="en-IN" dirty="0"/>
              <a:t>, </a:t>
            </a:r>
            <a:r>
              <a:rPr lang="en-IN" i="1" dirty="0"/>
              <a:t>"Multi-sensor fusion for intelligent road accident detection,"</a:t>
            </a:r>
            <a:r>
              <a:rPr lang="en-IN" dirty="0"/>
              <a:t> IEEE Sensors Journal, vol. 23, no. 8, pp. 8421–8432, 2023.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Y. Zhang et al.</a:t>
            </a:r>
            <a:r>
              <a:rPr lang="en-IN" dirty="0"/>
              <a:t>, </a:t>
            </a:r>
            <a:r>
              <a:rPr lang="en-IN" i="1" dirty="0"/>
              <a:t>"</a:t>
            </a:r>
            <a:r>
              <a:rPr lang="en-IN" i="1" dirty="0" err="1"/>
              <a:t>ByteTrack</a:t>
            </a:r>
            <a:r>
              <a:rPr lang="en-IN" i="1" dirty="0"/>
              <a:t>: Multi-Object Tracking by Associating Every Detection Box,"</a:t>
            </a:r>
            <a:r>
              <a:rPr lang="en-IN" dirty="0"/>
              <a:t> in European Conference on Computer Vision (ECCV), 2022, pp. 1–21.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S. Patel and R. Mehta</a:t>
            </a:r>
            <a:r>
              <a:rPr lang="en-IN" dirty="0"/>
              <a:t>, </a:t>
            </a:r>
            <a:r>
              <a:rPr lang="en-IN" i="1" dirty="0"/>
              <a:t>"Real-time smartphone sensor fusion for traffic accident recognition,"</a:t>
            </a:r>
            <a:r>
              <a:rPr lang="en-IN" dirty="0"/>
              <a:t> IEEE Internet of Things Journal, vol. 10, no. 5, pp. 4321–4333, 2023.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S. Kumar et al.</a:t>
            </a:r>
            <a:r>
              <a:rPr lang="en-IN" dirty="0"/>
              <a:t>, </a:t>
            </a:r>
            <a:r>
              <a:rPr lang="en-IN" i="1" dirty="0"/>
              <a:t>"Real-Time IoT-based Vehicle Accident Detection and Emergency Response System using Multi-Sensor Fusion,"</a:t>
            </a:r>
            <a:r>
              <a:rPr lang="en-IN" dirty="0"/>
              <a:t> in IEEE Conf. Proceedings, June 2025.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S. Garg, V. Bansal, and A. Sharma</a:t>
            </a:r>
            <a:r>
              <a:rPr lang="en-IN" dirty="0"/>
              <a:t>, </a:t>
            </a:r>
            <a:r>
              <a:rPr lang="en-IN" i="1" dirty="0"/>
              <a:t>"Traffic Accident Detection and Alert System Based on Computer Vision,"</a:t>
            </a:r>
            <a:r>
              <a:rPr lang="en-IN" dirty="0"/>
              <a:t> Int. Journal of Advanced Research in Computer Science &amp; Elec. Eng., vol. 11, no. 4, 2022.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J. Fang et al.</a:t>
            </a:r>
            <a:r>
              <a:rPr lang="en-IN" dirty="0"/>
              <a:t>, </a:t>
            </a:r>
            <a:r>
              <a:rPr lang="en-IN" i="1" dirty="0"/>
              <a:t>"Vision-Based Traffic Accident Detection and Anticipation: A Survey,"</a:t>
            </a:r>
            <a:r>
              <a:rPr lang="en-IN" dirty="0"/>
              <a:t> Future Generation Computer Systems (Elsevier), vol. 152, 2024.</a:t>
            </a: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B92BAE-5451-5671-78CB-469402317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5197" y="-809057"/>
            <a:ext cx="13086005" cy="802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293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1427</Words>
  <Application>Microsoft Office PowerPoint</Application>
  <PresentationFormat>Widescreen</PresentationFormat>
  <Paragraphs>155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Road Accident Monitoring and Emergency Response System</vt:lpstr>
      <vt:lpstr>Introduction</vt:lpstr>
      <vt:lpstr>Literature Review</vt:lpstr>
      <vt:lpstr>PowerPoint Presentation</vt:lpstr>
      <vt:lpstr>Research Gaps</vt:lpstr>
      <vt:lpstr>Challenges</vt:lpstr>
      <vt:lpstr>Aims &amp; Objectives</vt:lpstr>
      <vt:lpstr>Methodology / System Architecture</vt:lpstr>
      <vt:lpstr>PowerPoint Presentation</vt:lpstr>
      <vt:lpstr>Technology Stack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Accident Monitoring and Emergency Response System</dc:title>
  <dc:creator>arshit baliyan</dc:creator>
  <cp:lastModifiedBy>aadi dhankar</cp:lastModifiedBy>
  <cp:revision>12</cp:revision>
  <dcterms:created xsi:type="dcterms:W3CDTF">2026-03-26T17:02:49Z</dcterms:created>
  <dcterms:modified xsi:type="dcterms:W3CDTF">2026-07-30T10:08:16Z</dcterms:modified>
</cp:coreProperties>
</file>